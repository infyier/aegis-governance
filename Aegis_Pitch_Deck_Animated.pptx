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8317F9-565A-4F7C-B296-88A85ED58E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215687-6292-41D9-9ECC-3D2F64D1E7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55C6E0-E592-4A09-9F86-131B70A6B0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ABA86D-8BA8-48CC-857A-2B87897209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CDFBD1-D172-4493-8639-1124FA331A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9EAB1D-EA59-4A06-82F9-9DED837F9A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F621E4-236A-43BE-9682-01A81AA358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FBE8A2-9A46-4866-9B19-0B2E182712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7F02DC-C205-41B6-A901-894DA16560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A02B4A-4C99-4EF9-BAEB-4913E401E7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8BF01B-7405-4EA3-8256-BBB2501A57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3132B2-771E-44B7-8014-A4CCFABA1E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 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D5F143-2D27-4855-A92B-F83E1375385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3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1371600" y="1828800"/>
            <a:ext cx="91436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6000" spc="-1" strike="noStrike">
                <a:solidFill>
                  <a:srgbClr val="e8a33d"/>
                </a:solidFill>
                <a:latin typeface="Calibri"/>
              </a:rPr>
              <a:t>AEGIS</a:t>
            </a:r>
            <a:endParaRPr b="0" lang="en-IN" sz="60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1371600" y="2926080"/>
            <a:ext cx="914364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e6e8eb"/>
                </a:solidFill>
                <a:latin typeface="Calibri"/>
              </a:rPr>
              <a:t>Governance Control for Financial AI Agents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1371600" y="3931920"/>
            <a:ext cx="91436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a93a3"/>
                </a:solidFill>
                <a:latin typeface="Calibri"/>
              </a:rPr>
              <a:t>Real-time policy enforcement  •  Cryptographic audit trail  •  Fleet-wide kill switches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1371600" y="5669280"/>
            <a:ext cx="91436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American Express Hackathon 2026  |  Governance Layer for Financial Agents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1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731520" y="45720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8a33d"/>
                </a:solidFill>
                <a:latin typeface="Calibri"/>
              </a:rPr>
              <a:t>THE PROBLEM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731520" y="914400"/>
            <a:ext cx="100580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e6e8eb"/>
                </a:solidFill>
                <a:latin typeface="Calibri"/>
              </a:rPr>
              <a:t>Financial AI agents are being deployed without guardrails.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9" name="Rounded Rectangle 3"/>
          <p:cNvSpPr/>
          <p:nvPr/>
        </p:nvSpPr>
        <p:spPr>
          <a:xfrm>
            <a:off x="731520" y="2560320"/>
            <a:ext cx="3291480" cy="347436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4"/>
          <p:cNvSpPr/>
          <p:nvPr/>
        </p:nvSpPr>
        <p:spPr>
          <a:xfrm>
            <a:off x="1005840" y="2743200"/>
            <a:ext cx="2742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e8a33d"/>
                </a:solidFill>
                <a:latin typeface="Calibri"/>
              </a:rPr>
              <a:t>⚠  </a:t>
            </a:r>
            <a:r>
              <a:rPr b="1" lang="en-US" sz="2000" spc="-1" strike="noStrike">
                <a:solidFill>
                  <a:srgbClr val="e8a33d"/>
                </a:solidFill>
                <a:latin typeface="Calibri"/>
              </a:rPr>
              <a:t>Runaway Spend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005840" y="3474720"/>
            <a:ext cx="2742840" cy="14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8a93a3"/>
                </a:solidFill>
                <a:latin typeface="Calibri"/>
              </a:rPr>
              <a:t>Autonomous agents can exceed daily budgets when actions execute before checks. Institutions face unbounded financial liability.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" name="Rounded Rectangle 6"/>
          <p:cNvSpPr/>
          <p:nvPr/>
        </p:nvSpPr>
        <p:spPr>
          <a:xfrm>
            <a:off x="4389120" y="2560320"/>
            <a:ext cx="3291480" cy="347436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7"/>
          <p:cNvSpPr/>
          <p:nvPr/>
        </p:nvSpPr>
        <p:spPr>
          <a:xfrm>
            <a:off x="4663440" y="2743200"/>
            <a:ext cx="2742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e8a33d"/>
                </a:solidFill>
                <a:latin typeface="Calibri"/>
              </a:rPr>
              <a:t>🔓  </a:t>
            </a:r>
            <a:r>
              <a:rPr b="1" lang="en-US" sz="2000" spc="-1" strike="noStrike">
                <a:solidFill>
                  <a:srgbClr val="e8a33d"/>
                </a:solidFill>
                <a:latin typeface="Calibri"/>
              </a:rPr>
              <a:t>No Policy Enforcement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4663440" y="3474720"/>
            <a:ext cx="2742840" cy="12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8a93a3"/>
                </a:solidFill>
                <a:latin typeface="Calibri"/>
              </a:rPr>
              <a:t>Agents act first and get audited later. No mandatory interceptor blocks non-compliant actions prior to execution.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5" name="Rounded Rectangle 9"/>
          <p:cNvSpPr/>
          <p:nvPr/>
        </p:nvSpPr>
        <p:spPr>
          <a:xfrm>
            <a:off x="8046720" y="2560320"/>
            <a:ext cx="3291480" cy="347436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TextBox 10"/>
          <p:cNvSpPr/>
          <p:nvPr/>
        </p:nvSpPr>
        <p:spPr>
          <a:xfrm>
            <a:off x="8321040" y="2743200"/>
            <a:ext cx="2742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e8a33d"/>
                </a:solidFill>
                <a:latin typeface="Calibri"/>
              </a:rPr>
              <a:t>📋  </a:t>
            </a:r>
            <a:r>
              <a:rPr b="1" lang="en-US" sz="2000" spc="-1" strike="noStrike">
                <a:solidFill>
                  <a:srgbClr val="e8a33d"/>
                </a:solidFill>
                <a:latin typeface="Calibri"/>
              </a:rPr>
              <a:t>Audit Trail Gaps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8321040" y="3474720"/>
            <a:ext cx="2742840" cy="14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8a93a3"/>
                </a:solidFill>
                <a:latin typeface="Calibri"/>
              </a:rPr>
              <a:t>Post-hoc logging is alterable and unverifiable. Regulators cannot prove historical record integrity without cryptographic proof.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8" name="TextBox 12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2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731520" y="36576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8a33d"/>
                </a:solidFill>
                <a:latin typeface="Calibri"/>
              </a:rPr>
              <a:t>OUR SOLUTION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731520" y="777240"/>
            <a:ext cx="100580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6e8eb"/>
                </a:solidFill>
                <a:latin typeface="Calibri"/>
              </a:rPr>
              <a:t>Aegis — Control Tower UI for AI Agent Fleets</a:t>
            </a:r>
            <a:endParaRPr b="0" lang="en-IN" sz="2800" spc="-1" strike="noStrike">
              <a:latin typeface="Arial"/>
            </a:endParaRPr>
          </a:p>
        </p:txBody>
      </p:sp>
      <p:pic>
        <p:nvPicPr>
          <p:cNvPr id="61" name="Picture 3" descr="control_tower_ui.png"/>
          <p:cNvPicPr/>
          <p:nvPr/>
        </p:nvPicPr>
        <p:blipFill>
          <a:blip r:embed="rId1"/>
          <a:stretch/>
        </p:blipFill>
        <p:spPr>
          <a:xfrm>
            <a:off x="5303520" y="1463040"/>
            <a:ext cx="6576480" cy="4891320"/>
          </a:xfrm>
          <a:prstGeom prst="rect">
            <a:avLst/>
          </a:prstGeom>
          <a:ln w="0">
            <a:noFill/>
          </a:ln>
        </p:spPr>
      </p:pic>
      <p:sp>
        <p:nvSpPr>
          <p:cNvPr id="62" name="Rectangle 4"/>
          <p:cNvSpPr/>
          <p:nvPr/>
        </p:nvSpPr>
        <p:spPr>
          <a:xfrm>
            <a:off x="731520" y="1508760"/>
            <a:ext cx="72720" cy="45684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TextBox 5"/>
          <p:cNvSpPr/>
          <p:nvPr/>
        </p:nvSpPr>
        <p:spPr>
          <a:xfrm>
            <a:off x="960120" y="1463040"/>
            <a:ext cx="4114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Real-Time Policy Engine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960120" y="1810440"/>
            <a:ext cx="4114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Intercepts &amp; evaluates action attempts before DB write.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731520" y="2697480"/>
            <a:ext cx="72720" cy="45684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8"/>
          <p:cNvSpPr/>
          <p:nvPr/>
        </p:nvSpPr>
        <p:spPr>
          <a:xfrm>
            <a:off x="960120" y="2651760"/>
            <a:ext cx="4114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Cryptographic Audit Ledger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960120" y="2999160"/>
            <a:ext cx="4114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SHA-256 parent-child hash chaining ensures tamper proofing.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8" name="Rectangle 10"/>
          <p:cNvSpPr/>
          <p:nvPr/>
        </p:nvSpPr>
        <p:spPr>
          <a:xfrm>
            <a:off x="731520" y="3886200"/>
            <a:ext cx="72720" cy="45684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11"/>
          <p:cNvSpPr/>
          <p:nvPr/>
        </p:nvSpPr>
        <p:spPr>
          <a:xfrm>
            <a:off x="960120" y="3840480"/>
            <a:ext cx="4114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Fleet Emergency Controls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960120" y="4187880"/>
            <a:ext cx="4114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Instant per-agent or global Emergency Stop kill switch.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1" name="Rectangle 13"/>
          <p:cNvSpPr/>
          <p:nvPr/>
        </p:nvSpPr>
        <p:spPr>
          <a:xfrm>
            <a:off x="731520" y="5074920"/>
            <a:ext cx="72720" cy="45684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TextBox 14"/>
          <p:cNvSpPr/>
          <p:nvPr/>
        </p:nvSpPr>
        <p:spPr>
          <a:xfrm>
            <a:off x="960120" y="5029200"/>
            <a:ext cx="4114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Spend Cap Enforcement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73" name="TextBox 15"/>
          <p:cNvSpPr/>
          <p:nvPr/>
        </p:nvSpPr>
        <p:spPr>
          <a:xfrm>
            <a:off x="960120" y="5376600"/>
            <a:ext cx="41144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Configurable daily budget limits enforced live per persona.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4" name="TextBox 16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3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731520" y="36576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8a33d"/>
                </a:solidFill>
                <a:latin typeface="Calibri"/>
              </a:rPr>
              <a:t>SYSTEM ARCHITECTURE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777240"/>
            <a:ext cx="1005804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6e8eb"/>
                </a:solidFill>
                <a:latin typeface="Calibri"/>
              </a:rPr>
              <a:t>Inline governance between agents and execution backends</a:t>
            </a:r>
            <a:endParaRPr b="0" lang="en-IN" sz="2800" spc="-1" strike="noStrike">
              <a:latin typeface="Arial"/>
            </a:endParaRPr>
          </a:p>
        </p:txBody>
      </p:sp>
      <p:pic>
        <p:nvPicPr>
          <p:cNvPr id="77" name="Picture 3" descr="architecture_diagram.png"/>
          <p:cNvPicPr/>
          <p:nvPr/>
        </p:nvPicPr>
        <p:blipFill>
          <a:blip r:embed="rId1"/>
          <a:stretch/>
        </p:blipFill>
        <p:spPr>
          <a:xfrm>
            <a:off x="1097280" y="2028960"/>
            <a:ext cx="8802720" cy="4280040"/>
          </a:xfrm>
          <a:prstGeom prst="rect">
            <a:avLst/>
          </a:prstGeom>
          <a:ln w="0">
            <a:noFill/>
          </a:ln>
        </p:spPr>
      </p:pic>
      <p:sp>
        <p:nvSpPr>
          <p:cNvPr id="78" name="TextBox 4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4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731520" y="45720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8a33d"/>
                </a:solidFill>
                <a:latin typeface="Calibri"/>
              </a:rPr>
              <a:t>EVALUATION LOGIC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731520" y="914400"/>
            <a:ext cx="100580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6e8eb"/>
                </a:solidFill>
                <a:latin typeface="Calibri"/>
              </a:rPr>
              <a:t>Deterministic 4-check policy pipeline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81" name="Oval 3"/>
          <p:cNvSpPr/>
          <p:nvPr/>
        </p:nvSpPr>
        <p:spPr>
          <a:xfrm>
            <a:off x="731520" y="1737360"/>
            <a:ext cx="411120" cy="411120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6e8eb"/>
                </a:solidFill>
                <a:latin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1371600" y="1737360"/>
            <a:ext cx="27428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Agent Action Request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4389120" y="1737360"/>
            <a:ext cx="7131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Action payload sent to evaluate_policy(agent_id, action_type, amount)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4" name="Oval 6"/>
          <p:cNvSpPr/>
          <p:nvPr/>
        </p:nvSpPr>
        <p:spPr>
          <a:xfrm>
            <a:off x="731520" y="2541960"/>
            <a:ext cx="411120" cy="411120"/>
          </a:xfrm>
          <a:prstGeom prst="ellipse">
            <a:avLst/>
          </a:prstGeom>
          <a:solidFill>
            <a:srgbClr val="c14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6e8eb"/>
                </a:solidFill>
                <a:latin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1371600" y="2541960"/>
            <a:ext cx="2742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Status Check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4389120" y="2541960"/>
            <a:ext cx="7131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Is agent STOPPED?  →  BLOCKED  (emergency_stop_active)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7" name="Oval 9"/>
          <p:cNvSpPr/>
          <p:nvPr/>
        </p:nvSpPr>
        <p:spPr>
          <a:xfrm>
            <a:off x="731520" y="3346560"/>
            <a:ext cx="411120" cy="411120"/>
          </a:xfrm>
          <a:prstGeom prst="ellipse">
            <a:avLst/>
          </a:prstGeom>
          <a:solidFill>
            <a:srgbClr val="c14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6e8eb"/>
                </a:solidFill>
                <a:latin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1371600" y="3346560"/>
            <a:ext cx="2742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Block-List Check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89" name="TextBox 11"/>
          <p:cNvSpPr/>
          <p:nvPr/>
        </p:nvSpPr>
        <p:spPr>
          <a:xfrm>
            <a:off x="4389120" y="3346560"/>
            <a:ext cx="7131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Is action in blocked_actions?  →  BLOCKED  (action_not_permitted)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" name="Oval 12"/>
          <p:cNvSpPr/>
          <p:nvPr/>
        </p:nvSpPr>
        <p:spPr>
          <a:xfrm>
            <a:off x="731520" y="4151520"/>
            <a:ext cx="411120" cy="411120"/>
          </a:xfrm>
          <a:prstGeom prst="ellipse">
            <a:avLst/>
          </a:prstGeom>
          <a:solidFill>
            <a:srgbClr val="c14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6e8eb"/>
                </a:solidFill>
                <a:latin typeface="Calibri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1371600" y="4151520"/>
            <a:ext cx="2742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Allow-List Check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4389120" y="4151520"/>
            <a:ext cx="71319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Is action missing from allowed_actions?  →  BLOCKED  (action_not_in_allowlist)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3" name="Oval 15"/>
          <p:cNvSpPr/>
          <p:nvPr/>
        </p:nvSpPr>
        <p:spPr>
          <a:xfrm>
            <a:off x="731520" y="4956120"/>
            <a:ext cx="411120" cy="411120"/>
          </a:xfrm>
          <a:prstGeom prst="ellipse">
            <a:avLst/>
          </a:prstGeom>
          <a:solidFill>
            <a:srgbClr val="c1443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6e8eb"/>
                </a:solidFill>
                <a:latin typeface="Calibri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4" name="TextBox 16"/>
          <p:cNvSpPr/>
          <p:nvPr/>
        </p:nvSpPr>
        <p:spPr>
          <a:xfrm>
            <a:off x="1371600" y="4956120"/>
            <a:ext cx="2742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Spend Cap Check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95" name="TextBox 17"/>
          <p:cNvSpPr/>
          <p:nvPr/>
        </p:nvSpPr>
        <p:spPr>
          <a:xfrm>
            <a:off x="4389120" y="4956120"/>
            <a:ext cx="7131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current_spend + amount &gt; daily_cap?  →  BLOCKED  (spend_cap_exceeded)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6" name="Oval 18"/>
          <p:cNvSpPr/>
          <p:nvPr/>
        </p:nvSpPr>
        <p:spPr>
          <a:xfrm>
            <a:off x="731520" y="5760720"/>
            <a:ext cx="411120" cy="411120"/>
          </a:xfrm>
          <a:prstGeom prst="ellipse">
            <a:avLst/>
          </a:prstGeom>
          <a:solidFill>
            <a:srgbClr val="4c9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6e8eb"/>
                </a:solidFill>
                <a:latin typeface="Calibri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7" name="TextBox 19"/>
          <p:cNvSpPr/>
          <p:nvPr/>
        </p:nvSpPr>
        <p:spPr>
          <a:xfrm>
            <a:off x="1371600" y="5760720"/>
            <a:ext cx="2742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700" spc="-1" strike="noStrike">
                <a:solidFill>
                  <a:srgbClr val="e6e8eb"/>
                </a:solidFill>
                <a:latin typeface="Calibri"/>
              </a:rPr>
              <a:t>Execute &amp; Log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98" name="TextBox 20"/>
          <p:cNvSpPr/>
          <p:nvPr/>
        </p:nvSpPr>
        <p:spPr>
          <a:xfrm>
            <a:off x="4389120" y="5760720"/>
            <a:ext cx="7131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Approved → Update spend → SHA-256 hash → Broadcast via WebSocket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5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731520" y="45720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8a33d"/>
                </a:solidFill>
                <a:latin typeface="Calibri"/>
              </a:rPr>
              <a:t>TECHNOLOGY STACK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731520" y="914400"/>
            <a:ext cx="1005804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6e8eb"/>
                </a:solidFill>
                <a:latin typeface="Calibri"/>
              </a:rPr>
              <a:t>Built for low latency, auditability, and enterprise readiness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02" name="Rounded Rectangle 3"/>
          <p:cNvSpPr/>
          <p:nvPr/>
        </p:nvSpPr>
        <p:spPr>
          <a:xfrm>
            <a:off x="731520" y="219456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4"/>
          <p:cNvSpPr/>
          <p:nvPr/>
        </p:nvSpPr>
        <p:spPr>
          <a:xfrm>
            <a:off x="1005840" y="233172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8a33d"/>
                </a:solidFill>
                <a:latin typeface="Calibri"/>
              </a:rPr>
              <a:t>Backend API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1005840" y="2743200"/>
            <a:ext cx="4571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8a93a3"/>
                </a:solidFill>
                <a:latin typeface="Calibri"/>
              </a:rPr>
              <a:t>FastAPI (Python 3.11) + Uvicorn ASGI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5" name="Rounded Rectangle 6"/>
          <p:cNvSpPr/>
          <p:nvPr/>
        </p:nvSpPr>
        <p:spPr>
          <a:xfrm>
            <a:off x="6217920" y="219456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7"/>
          <p:cNvSpPr/>
          <p:nvPr/>
        </p:nvSpPr>
        <p:spPr>
          <a:xfrm>
            <a:off x="6492240" y="233172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8a33d"/>
                </a:solidFill>
                <a:latin typeface="Calibri"/>
              </a:rPr>
              <a:t>Frontend UI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6492240" y="2743200"/>
            <a:ext cx="4571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8a93a3"/>
                </a:solidFill>
                <a:latin typeface="Calibri"/>
              </a:rPr>
              <a:t>React 18 + Vite + Tailwind CSS v4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8" name="Rounded Rectangle 9"/>
          <p:cNvSpPr/>
          <p:nvPr/>
        </p:nvSpPr>
        <p:spPr>
          <a:xfrm>
            <a:off x="731520" y="356616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9" name="TextBox 10"/>
          <p:cNvSpPr/>
          <p:nvPr/>
        </p:nvSpPr>
        <p:spPr>
          <a:xfrm>
            <a:off x="1005840" y="370332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8a33d"/>
                </a:solidFill>
                <a:latin typeface="Calibri"/>
              </a:rPr>
              <a:t>Real-Time Layer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1005840" y="4114800"/>
            <a:ext cx="45716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8a93a3"/>
                </a:solidFill>
                <a:latin typeface="Calibri"/>
              </a:rPr>
              <a:t>WebSocket (FastAPI WS Manager → React hooks)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1" name="Rounded Rectangle 12"/>
          <p:cNvSpPr/>
          <p:nvPr/>
        </p:nvSpPr>
        <p:spPr>
          <a:xfrm>
            <a:off x="6217920" y="356616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TextBox 13"/>
          <p:cNvSpPr/>
          <p:nvPr/>
        </p:nvSpPr>
        <p:spPr>
          <a:xfrm>
            <a:off x="6492240" y="370332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8a33d"/>
                </a:solidFill>
                <a:latin typeface="Calibri"/>
              </a:rPr>
              <a:t>Crypto Audit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6492240" y="4114800"/>
            <a:ext cx="4571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8a93a3"/>
                </a:solidFill>
                <a:latin typeface="Calibri"/>
              </a:rPr>
              <a:t>SHA-256 hash chaining via Python hashlib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4" name="Rounded Rectangle 15"/>
          <p:cNvSpPr/>
          <p:nvPr/>
        </p:nvSpPr>
        <p:spPr>
          <a:xfrm>
            <a:off x="731520" y="493776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16"/>
          <p:cNvSpPr/>
          <p:nvPr/>
        </p:nvSpPr>
        <p:spPr>
          <a:xfrm>
            <a:off x="1005840" y="507492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8a33d"/>
                </a:solidFill>
                <a:latin typeface="Calibri"/>
              </a:rPr>
              <a:t>Database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6" name="TextBox 17"/>
          <p:cNvSpPr/>
          <p:nvPr/>
        </p:nvSpPr>
        <p:spPr>
          <a:xfrm>
            <a:off x="1005840" y="5486400"/>
            <a:ext cx="45716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8a93a3"/>
                </a:solidFill>
                <a:latin typeface="Calibri"/>
              </a:rPr>
              <a:t>SQLite (WAL mode) — swappable to PostgreSQL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17" name="Rounded Rectangle 18"/>
          <p:cNvSpPr/>
          <p:nvPr/>
        </p:nvSpPr>
        <p:spPr>
          <a:xfrm>
            <a:off x="6217920" y="4937760"/>
            <a:ext cx="5028840" cy="109692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8" name="TextBox 19"/>
          <p:cNvSpPr/>
          <p:nvPr/>
        </p:nvSpPr>
        <p:spPr>
          <a:xfrm>
            <a:off x="6492240" y="507492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8a33d"/>
                </a:solidFill>
                <a:latin typeface="Calibri"/>
              </a:rPr>
              <a:t>Agent Simulator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9" name="TextBox 20"/>
          <p:cNvSpPr/>
          <p:nvPr/>
        </p:nvSpPr>
        <p:spPr>
          <a:xfrm>
            <a:off x="6492240" y="5486400"/>
            <a:ext cx="45716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8a93a3"/>
                </a:solidFill>
                <a:latin typeface="Calibri"/>
              </a:rPr>
              <a:t>5 persona types with configurable action profiles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0" name="TextBox 21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6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731520" y="45720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8a33d"/>
                </a:solidFill>
                <a:latin typeface="Calibri"/>
              </a:rPr>
              <a:t>BUSINESS &amp; SOCIETAL IMPACT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731520" y="914400"/>
            <a:ext cx="100580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6e8eb"/>
                </a:solidFill>
                <a:latin typeface="Calibri"/>
              </a:rPr>
              <a:t>Why Aegis matters for financial institutions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3" name="Rounded Rectangle 3"/>
          <p:cNvSpPr/>
          <p:nvPr/>
        </p:nvSpPr>
        <p:spPr>
          <a:xfrm>
            <a:off x="731520" y="2011680"/>
            <a:ext cx="10698120" cy="127980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4" name="TextBox 4"/>
          <p:cNvSpPr/>
          <p:nvPr/>
        </p:nvSpPr>
        <p:spPr>
          <a:xfrm>
            <a:off x="1097280" y="2148840"/>
            <a:ext cx="548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e8a33d"/>
                </a:solidFill>
                <a:latin typeface="Calibri"/>
              </a:rPr>
              <a:t>🛡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1645920" y="2148840"/>
            <a:ext cx="41140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e6e8eb"/>
                </a:solidFill>
                <a:latin typeface="Calibri"/>
              </a:rPr>
              <a:t>Financial Risk Mitigation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1645920" y="2606040"/>
            <a:ext cx="93265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Eliminates unauthorized agent spend and rogue transactions before they execute. The policy engine is the single mandatory gate across the stack.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7" name="Rounded Rectangle 7"/>
          <p:cNvSpPr/>
          <p:nvPr/>
        </p:nvSpPr>
        <p:spPr>
          <a:xfrm>
            <a:off x="731520" y="3566160"/>
            <a:ext cx="10698120" cy="127980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8" name="TextBox 8"/>
          <p:cNvSpPr/>
          <p:nvPr/>
        </p:nvSpPr>
        <p:spPr>
          <a:xfrm>
            <a:off x="1097280" y="3703320"/>
            <a:ext cx="548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e8a33d"/>
                </a:solidFill>
                <a:latin typeface="Calibri"/>
              </a:rPr>
              <a:t>✓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1645920" y="3703320"/>
            <a:ext cx="3657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e6e8eb"/>
                </a:solidFill>
                <a:latin typeface="Calibri"/>
              </a:rPr>
              <a:t>Compliance Automation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1645920" y="4160520"/>
            <a:ext cx="93265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Replaces slow, manual audits with cryptographically verifiable, append-only logs aligned with PCI-DSS and SOX internal control standards.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1" name="Rounded Rectangle 11"/>
          <p:cNvSpPr/>
          <p:nvPr/>
        </p:nvSpPr>
        <p:spPr>
          <a:xfrm>
            <a:off x="731520" y="5120640"/>
            <a:ext cx="10698120" cy="127980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12"/>
          <p:cNvSpPr/>
          <p:nvPr/>
        </p:nvSpPr>
        <p:spPr>
          <a:xfrm>
            <a:off x="1097280" y="5257800"/>
            <a:ext cx="548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e8a33d"/>
                </a:solidFill>
                <a:latin typeface="Calibri"/>
              </a:rPr>
              <a:t>🚀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1645920" y="5257800"/>
            <a:ext cx="3657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e6e8eb"/>
                </a:solidFill>
                <a:latin typeface="Calibri"/>
              </a:rPr>
              <a:t>Safe AI Scaling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1645920" y="5715000"/>
            <a:ext cx="932652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Enables financial institutions to deploy autonomous workflows with operator controls, reducing human gating while increasing velocity responsibly.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7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731520" y="36576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8a33d"/>
                </a:solidFill>
                <a:latin typeface="Calibri"/>
              </a:rPr>
              <a:t>ARCHITECTURAL GUARANTEES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720000" y="677160"/>
            <a:ext cx="1005804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6e8eb"/>
                </a:solidFill>
                <a:latin typeface="Calibri"/>
              </a:rPr>
              <a:t>Immutable SHA-256 Audit Log &amp; Instant Chain Verification</a:t>
            </a:r>
            <a:endParaRPr b="0" lang="en-IN" sz="2800" spc="-1" strike="noStrike">
              <a:latin typeface="Arial"/>
            </a:endParaRPr>
          </a:p>
        </p:txBody>
      </p:sp>
      <p:pic>
        <p:nvPicPr>
          <p:cNvPr id="138" name="Picture 3" descr="audit_log.png"/>
          <p:cNvPicPr/>
          <p:nvPr/>
        </p:nvPicPr>
        <p:blipFill>
          <a:blip r:embed="rId1"/>
          <a:stretch/>
        </p:blipFill>
        <p:spPr>
          <a:xfrm>
            <a:off x="731520" y="1662840"/>
            <a:ext cx="10248480" cy="4554720"/>
          </a:xfrm>
          <a:prstGeom prst="rect">
            <a:avLst/>
          </a:prstGeom>
          <a:ln w="0">
            <a:noFill/>
          </a:ln>
        </p:spPr>
      </p:pic>
      <p:sp>
        <p:nvSpPr>
          <p:cNvPr id="139" name="TextBox 4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8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"/>
          <p:cNvSpPr/>
          <p:nvPr/>
        </p:nvSpPr>
        <p:spPr>
          <a:xfrm>
            <a:off x="731520" y="45720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e8a33d"/>
                </a:solidFill>
                <a:latin typeface="Calibri"/>
              </a:rPr>
              <a:t>SCALABILITY &amp; ASSUMPTIONS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731520" y="914400"/>
            <a:ext cx="100580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6e8eb"/>
                </a:solidFill>
                <a:latin typeface="Calibri"/>
              </a:rPr>
              <a:t>From prototype to production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2" name="Rectangle 3"/>
          <p:cNvSpPr/>
          <p:nvPr/>
        </p:nvSpPr>
        <p:spPr>
          <a:xfrm>
            <a:off x="731520" y="2057400"/>
            <a:ext cx="72720" cy="54828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TextBox 4"/>
          <p:cNvSpPr/>
          <p:nvPr/>
        </p:nvSpPr>
        <p:spPr>
          <a:xfrm>
            <a:off x="1051560" y="201168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6e8eb"/>
                </a:solidFill>
                <a:latin typeface="Calibri"/>
              </a:rPr>
              <a:t>Stateless Policy Engine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1051560" y="2423160"/>
            <a:ext cx="50288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Sub-millisecond in-memory evaluation. Horizontally scalable across multiple app instances.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5" name="Rectangle 6"/>
          <p:cNvSpPr/>
          <p:nvPr/>
        </p:nvSpPr>
        <p:spPr>
          <a:xfrm>
            <a:off x="731520" y="3337560"/>
            <a:ext cx="72720" cy="54828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TextBox 7"/>
          <p:cNvSpPr/>
          <p:nvPr/>
        </p:nvSpPr>
        <p:spPr>
          <a:xfrm>
            <a:off x="1051560" y="329184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6e8eb"/>
                </a:solidFill>
                <a:latin typeface="Calibri"/>
              </a:rPr>
              <a:t>Database Upgrade Path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47" name="TextBox 8"/>
          <p:cNvSpPr/>
          <p:nvPr/>
        </p:nvSpPr>
        <p:spPr>
          <a:xfrm>
            <a:off x="1051560" y="3703320"/>
            <a:ext cx="50288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Seamless migration from SQLite to PostgreSQL with append-only WORM storage for production.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8" name="Rectangle 9"/>
          <p:cNvSpPr/>
          <p:nvPr/>
        </p:nvSpPr>
        <p:spPr>
          <a:xfrm>
            <a:off x="731520" y="4617720"/>
            <a:ext cx="72720" cy="54828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9" name="TextBox 10"/>
          <p:cNvSpPr/>
          <p:nvPr/>
        </p:nvSpPr>
        <p:spPr>
          <a:xfrm>
            <a:off x="1051560" y="4572000"/>
            <a:ext cx="5028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6e8eb"/>
                </a:solidFill>
                <a:latin typeface="Calibri"/>
              </a:rPr>
              <a:t>WebSocket Pub/Sub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0" name="TextBox 11"/>
          <p:cNvSpPr/>
          <p:nvPr/>
        </p:nvSpPr>
        <p:spPr>
          <a:xfrm>
            <a:off x="1051560" y="4983480"/>
            <a:ext cx="50288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8a93a3"/>
                </a:solidFill>
                <a:latin typeface="Calibri"/>
              </a:rPr>
              <a:t>Connection manager can be backed by Redis Pub/Sub for high-concurrency enterprise monitoring.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1" name="Rounded Rectangle 12"/>
          <p:cNvSpPr/>
          <p:nvPr/>
        </p:nvSpPr>
        <p:spPr>
          <a:xfrm>
            <a:off x="6583680" y="2011680"/>
            <a:ext cx="4845960" cy="4114440"/>
          </a:xfrm>
          <a:prstGeom prst="roundRect">
            <a:avLst>
              <a:gd name="adj" fmla="val 16667"/>
            </a:avLst>
          </a:prstGeom>
          <a:solidFill>
            <a:srgbClr val="121724"/>
          </a:solidFill>
          <a:ln w="12700">
            <a:solidFill>
              <a:srgbClr val="2a30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2" name="TextBox 13"/>
          <p:cNvSpPr/>
          <p:nvPr/>
        </p:nvSpPr>
        <p:spPr>
          <a:xfrm>
            <a:off x="6858000" y="2194560"/>
            <a:ext cx="4388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e8a33d"/>
                </a:solidFill>
                <a:latin typeface="Calibri"/>
              </a:rPr>
              <a:t>Assumptions &amp; Constraints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3" name="TextBox 14"/>
          <p:cNvSpPr/>
          <p:nvPr/>
        </p:nvSpPr>
        <p:spPr>
          <a:xfrm>
            <a:off x="6858000" y="2743200"/>
            <a:ext cx="4388760" cy="227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Demo uses an internal multi-agent simulator via /simulate/action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Production requires agents to invoke the Aegis authorization API directly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Audit log entries are strictly append-only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Editing historical records invalidates all subsequent hashes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buNone/>
            </a:pP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8a93a3"/>
                </a:solidFill>
                <a:latin typeface="Calibri"/>
              </a:rPr>
              <a:t>Emergency stop is authoritative and synchronously enforced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4" name="TextBox 15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9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TextBox 2"/>
          <p:cNvSpPr/>
          <p:nvPr/>
        </p:nvSpPr>
        <p:spPr>
          <a:xfrm>
            <a:off x="1371600" y="2011680"/>
            <a:ext cx="914364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5600" spc="-1" strike="noStrike">
                <a:solidFill>
                  <a:srgbClr val="e8a33d"/>
                </a:solidFill>
                <a:latin typeface="Calibri"/>
              </a:rPr>
              <a:t>AEGIS</a:t>
            </a:r>
            <a:endParaRPr b="0" lang="en-IN" sz="5600" spc="-1" strike="noStrike">
              <a:latin typeface="Arial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1371600" y="3200400"/>
            <a:ext cx="91436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e6e8eb"/>
                </a:solidFill>
                <a:latin typeface="Calibri"/>
              </a:rPr>
              <a:t>Governance Control for Financial AI Agents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1371600" y="4114800"/>
            <a:ext cx="9143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8a93a3"/>
                </a:solidFill>
                <a:latin typeface="Calibri"/>
              </a:rPr>
              <a:t>Thank you for your time.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59" name="Rectangle 5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e8a3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6"/>
          <p:cNvSpPr/>
          <p:nvPr/>
        </p:nvSpPr>
        <p:spPr>
          <a:xfrm>
            <a:off x="10972800" y="6400800"/>
            <a:ext cx="109692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8a93a3"/>
                </a:solidFill>
                <a:latin typeface="Calibri"/>
              </a:rPr>
              <a:t>10 / 10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2026-07-26T23:33:48Z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