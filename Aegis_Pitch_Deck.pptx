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E8A33D"/>
                </a:solidFill>
                <a:latin typeface="Calibri"/>
              </a:defRPr>
            </a:pPr>
            <a:r>
              <a:t>AEGIS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E8EB"/>
                </a:solidFill>
                <a:latin typeface="Calibri"/>
              </a:defRPr>
            </a:pPr>
            <a:r>
              <a:t>Governance Control for Financial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3A3"/>
                </a:solidFill>
                <a:latin typeface="Calibri"/>
              </a:defRPr>
            </a:pPr>
            <a:r>
              <a:t>Real-time policy enforcement  •  Cryptographic audit trail  •  Fleet-wide kill switches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3A3"/>
                </a:solidFill>
                <a:latin typeface="Calibri"/>
              </a:defRPr>
            </a:pPr>
            <a:r>
              <a:t>American Express Hackathon 2026  |  Governance Layer for Financial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3A3"/>
                </a:solidFill>
                <a:latin typeface="Calibri"/>
              </a:defRPr>
            </a:pPr>
            <a:r>
              <a:t>1 / 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33D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E8EB"/>
                </a:solidFill>
                <a:latin typeface="Calibri"/>
              </a:defRPr>
            </a:pPr>
            <a:r>
              <a:t>Financial AI agents are being deployed without guardrails.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3291840" cy="34747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A33D"/>
                </a:solidFill>
                <a:latin typeface="Calibri"/>
              </a:defRPr>
            </a:pPr>
            <a:r>
              <a:t>⚠  Runaway Spend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3A3"/>
                </a:solidFill>
                <a:latin typeface="Calibri"/>
              </a:defRPr>
            </a:pPr>
            <a:r>
              <a:t>Autonomous agents can exceed daily budgets when actions execute before checks. Institutions face unbounded financial liability.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560320"/>
            <a:ext cx="3291840" cy="34747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A33D"/>
                </a:solidFill>
                <a:latin typeface="Calibri"/>
              </a:defRPr>
            </a:pPr>
            <a:r>
              <a:t>🔓  No Policy Enforcement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47472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3A3"/>
                </a:solidFill>
                <a:latin typeface="Calibri"/>
              </a:defRPr>
            </a:pPr>
            <a:r>
              <a:t>Agents act first and get audited later. No mandatory interceptor blocks non-compliant actions prior to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560320"/>
            <a:ext cx="3291840" cy="34747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A33D"/>
                </a:solidFill>
                <a:latin typeface="Calibri"/>
              </a:defRPr>
            </a:pPr>
            <a:r>
              <a:t>📋  Audit Trail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47472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3A3"/>
                </a:solidFill>
                <a:latin typeface="Calibri"/>
              </a:defRPr>
            </a:pPr>
            <a:r>
              <a:t>Post-hoc logging is alterable and unverifiable. Regulators cannot prove historical record integrity without cryptographic proof.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3A3"/>
                </a:solidFill>
                <a:latin typeface="Calibri"/>
              </a:defRPr>
            </a:pPr>
            <a:r>
              <a:t>2 / 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33D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8EB"/>
                </a:solidFill>
                <a:latin typeface="Calibri"/>
              </a:defRPr>
            </a:pPr>
            <a:r>
              <a:t>Aegis — Control Tower UI for AI Agent Fleets</a:t>
            </a:r>
          </a:p>
        </p:txBody>
      </p:sp>
      <p:pic>
        <p:nvPicPr>
          <p:cNvPr id="4" name="Picture 3" descr="control_tower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217920" cy="4754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508760"/>
            <a:ext cx="73152" cy="4572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E8EB"/>
                </a:solidFill>
                <a:latin typeface="Calibri"/>
              </a:defRPr>
            </a:pPr>
            <a:r>
              <a:t>Real-Time Policy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3A3"/>
                </a:solidFill>
                <a:latin typeface="Calibri"/>
              </a:defRPr>
            </a:pPr>
            <a:r>
              <a:t>Intercepts &amp; evaluates action attempts before DB write.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97480"/>
            <a:ext cx="73152" cy="4572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E8EB"/>
                </a:solidFill>
                <a:latin typeface="Calibri"/>
              </a:defRPr>
            </a:pPr>
            <a:r>
              <a:t>Cryptographic Audit Ledger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9923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3A3"/>
                </a:solidFill>
                <a:latin typeface="Calibri"/>
              </a:defRPr>
            </a:pPr>
            <a:r>
              <a:t>SHA-256 parent-child hash chaining ensures tamper proofing.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86200"/>
            <a:ext cx="73152" cy="4572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40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E8EB"/>
                </a:solidFill>
                <a:latin typeface="Calibri"/>
              </a:defRPr>
            </a:pPr>
            <a:r>
              <a:t>Fleet Emergency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8795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3A3"/>
                </a:solidFill>
                <a:latin typeface="Calibri"/>
              </a:defRPr>
            </a:pPr>
            <a:r>
              <a:t>Instant per-agent or global Emergency Stop kill switch.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074920"/>
            <a:ext cx="73152" cy="4572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029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E8EB"/>
                </a:solidFill>
                <a:latin typeface="Calibri"/>
              </a:defRPr>
            </a:pPr>
            <a:r>
              <a:t>Spend Cap Enforcement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37667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3A3"/>
                </a:solidFill>
                <a:latin typeface="Calibri"/>
              </a:defRPr>
            </a:pPr>
            <a:r>
              <a:t>Configurable daily budget limits enforced live per persona.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3A3"/>
                </a:solidFill>
                <a:latin typeface="Calibri"/>
              </a:defRPr>
            </a:pPr>
            <a:r>
              <a:t>3 / 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33D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8EB"/>
                </a:solidFill>
                <a:latin typeface="Calibri"/>
              </a:defRPr>
            </a:pPr>
            <a:r>
              <a:t>Inline governance between agents and execution backends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996696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3A3"/>
                </a:solidFill>
                <a:latin typeface="Calibri"/>
              </a:defRPr>
            </a:pPr>
            <a:r>
              <a:t>4 / 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33D"/>
                </a:solidFill>
                <a:latin typeface="Calibri"/>
              </a:defRPr>
            </a:pPr>
            <a:r>
              <a:t>EVALUATION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8EB"/>
                </a:solidFill>
                <a:latin typeface="Calibri"/>
              </a:defRPr>
            </a:pPr>
            <a:r>
              <a:t>Deterministic 4-check policy pipeline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73736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6E8EB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E8EB"/>
                </a:solidFill>
                <a:latin typeface="Calibri"/>
              </a:defRPr>
            </a:pPr>
            <a:r>
              <a:t>Agent Action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7373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3A3"/>
                </a:solidFill>
                <a:latin typeface="Calibri"/>
              </a:defRPr>
            </a:pPr>
            <a:r>
              <a:t>Action payload sent to evaluate_policy(agent_id, action_type, amount)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542032"/>
            <a:ext cx="411480" cy="411480"/>
          </a:xfrm>
          <a:prstGeom prst="ellipse">
            <a:avLst/>
          </a:prstGeom>
          <a:solidFill>
            <a:srgbClr val="C1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6E8EB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42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E8EB"/>
                </a:solidFill>
                <a:latin typeface="Calibri"/>
              </a:defRPr>
            </a:pPr>
            <a:r>
              <a:t>Status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54203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3A3"/>
                </a:solidFill>
                <a:latin typeface="Calibri"/>
              </a:defRPr>
            </a:pPr>
            <a:r>
              <a:t>Is agent STOPPED?  →  BLOCKED  (emergency_stop_active)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346704"/>
            <a:ext cx="411480" cy="411480"/>
          </a:xfrm>
          <a:prstGeom prst="ellipse">
            <a:avLst/>
          </a:prstGeom>
          <a:solidFill>
            <a:srgbClr val="C1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6E8EB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3467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E8EB"/>
                </a:solidFill>
                <a:latin typeface="Calibri"/>
              </a:defRPr>
            </a:pPr>
            <a:r>
              <a:t>Block-List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34670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3A3"/>
                </a:solidFill>
                <a:latin typeface="Calibri"/>
              </a:defRPr>
            </a:pPr>
            <a:r>
              <a:t>Is action in blocked_actions?  →  BLOCKED  (action_not_permitted)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51376"/>
            <a:ext cx="411480" cy="411480"/>
          </a:xfrm>
          <a:prstGeom prst="ellipse">
            <a:avLst/>
          </a:prstGeom>
          <a:solidFill>
            <a:srgbClr val="C1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6E8EB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5137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E8EB"/>
                </a:solidFill>
                <a:latin typeface="Calibri"/>
              </a:defRPr>
            </a:pPr>
            <a:r>
              <a:t>Allow-List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151376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3A3"/>
                </a:solidFill>
                <a:latin typeface="Calibri"/>
              </a:defRPr>
            </a:pPr>
            <a:r>
              <a:t>Is action missing from allowed_actions?  →  BLOCKED  (action_not_in_allowlist)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956048"/>
            <a:ext cx="411480" cy="411480"/>
          </a:xfrm>
          <a:prstGeom prst="ellipse">
            <a:avLst/>
          </a:prstGeom>
          <a:solidFill>
            <a:srgbClr val="C14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6E8EB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9560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E8EB"/>
                </a:solidFill>
                <a:latin typeface="Calibri"/>
              </a:defRPr>
            </a:pPr>
            <a:r>
              <a:t>Spend Cap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95604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3A3"/>
                </a:solidFill>
                <a:latin typeface="Calibri"/>
              </a:defRPr>
            </a:pPr>
            <a:r>
              <a:t>current_spend + amount &gt; daily_cap?  →  BLOCKED  (spend_cap_exceeded)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760720"/>
            <a:ext cx="411480" cy="411480"/>
          </a:xfrm>
          <a:prstGeom prst="ellipse">
            <a:avLst/>
          </a:prstGeom>
          <a:solidFill>
            <a:srgbClr val="4C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E6E8EB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E8EB"/>
                </a:solidFill>
                <a:latin typeface="Calibri"/>
              </a:defRPr>
            </a:pPr>
            <a:r>
              <a:t>Execute &amp;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7607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3A3"/>
                </a:solidFill>
                <a:latin typeface="Calibri"/>
              </a:defRPr>
            </a:pPr>
            <a:r>
              <a:t>Approved → Update spend → SHA-256 hash → Broadcast via WebSocket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3A3"/>
                </a:solidFill>
                <a:latin typeface="Calibri"/>
              </a:defRPr>
            </a:pPr>
            <a:r>
              <a:t>5 / 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33D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8EB"/>
                </a:solidFill>
                <a:latin typeface="Calibri"/>
              </a:defRPr>
            </a:pPr>
            <a:r>
              <a:t>Built for low latency, auditability, and enterprise readiness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5029200" cy="109728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A33D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3A3"/>
                </a:solidFill>
                <a:latin typeface="Calibri"/>
              </a:defRPr>
            </a:pPr>
            <a:r>
              <a:t>FastAPI (Python 3.11) + Uvicorn ASGI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5029200" cy="109728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A33D"/>
                </a:solidFill>
                <a:latin typeface="Calibri"/>
              </a:defRPr>
            </a:pPr>
            <a:r>
              <a:t>Frontend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3A3"/>
                </a:solidFill>
                <a:latin typeface="Calibri"/>
              </a:defRPr>
            </a:pPr>
            <a:r>
              <a:t>React 18 + Vite + Tailwind CSS v4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5029200" cy="109728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A33D"/>
                </a:solidFill>
                <a:latin typeface="Calibri"/>
              </a:defRPr>
            </a:pPr>
            <a:r>
              <a:t>Real-Time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3A3"/>
                </a:solidFill>
                <a:latin typeface="Calibri"/>
              </a:defRPr>
            </a:pPr>
            <a:r>
              <a:t>WebSocket (FastAPI WS Manager → React hooks)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029200" cy="109728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A33D"/>
                </a:solidFill>
                <a:latin typeface="Calibri"/>
              </a:defRPr>
            </a:pPr>
            <a:r>
              <a:t>Crypto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3A3"/>
                </a:solidFill>
                <a:latin typeface="Calibri"/>
              </a:defRPr>
            </a:pPr>
            <a:r>
              <a:t>SHA-256 hash chaining via Python hashlib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5029200" cy="109728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A33D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3A3"/>
                </a:solidFill>
                <a:latin typeface="Calibri"/>
              </a:defRPr>
            </a:pPr>
            <a:r>
              <a:t>SQLite (WAL mode) — swappable to PostgreSQL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937760"/>
            <a:ext cx="5029200" cy="109728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A33D"/>
                </a:solidFill>
                <a:latin typeface="Calibri"/>
              </a:defRPr>
            </a:pPr>
            <a:r>
              <a:t>Agent Simulator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3A3"/>
                </a:solidFill>
                <a:latin typeface="Calibri"/>
              </a:defRPr>
            </a:pPr>
            <a:r>
              <a:t>5 persona types with configurable action profiles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3A3"/>
                </a:solidFill>
                <a:latin typeface="Calibri"/>
              </a:defRPr>
            </a:pPr>
            <a:r>
              <a:t>6 / 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33D"/>
                </a:solidFill>
                <a:latin typeface="Calibri"/>
              </a:defRPr>
            </a:pPr>
            <a:r>
              <a:t>BUSINESS &amp; SOCIETAL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8EB"/>
                </a:solidFill>
                <a:latin typeface="Calibri"/>
              </a:defRPr>
            </a:pPr>
            <a:r>
              <a:t>Why Aegis matters for financial institutions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8A33D"/>
                </a:solidFill>
                <a:latin typeface="Calibri"/>
              </a:defRPr>
            </a:pPr>
            <a:r>
              <a:t>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E8EB"/>
                </a:solidFill>
                <a:latin typeface="Calibri"/>
              </a:defRPr>
            </a:pPr>
            <a:r>
              <a:t>Financial Risk Mitigation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60604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3A3"/>
                </a:solidFill>
                <a:latin typeface="Calibri"/>
              </a:defRPr>
            </a:pPr>
            <a:r>
              <a:t>Eliminates unauthorized agent spend and rogue transactions before they execute. The policy engine is the single mandatory gate across the stack.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8A33D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E8EB"/>
                </a:solidFill>
                <a:latin typeface="Calibri"/>
              </a:defRPr>
            </a:pPr>
            <a:r>
              <a:t>Compliance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6052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3A3"/>
                </a:solidFill>
                <a:latin typeface="Calibri"/>
              </a:defRPr>
            </a:pPr>
            <a:r>
              <a:t>Replaces slow, manual audits with cryptographically verifiable, append-only logs aligned with PCI-DSS and SOX internal control standards.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69848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257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8A33D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E8EB"/>
                </a:solidFill>
                <a:latin typeface="Calibri"/>
              </a:defRPr>
            </a:pPr>
            <a:r>
              <a:t>Safe AI 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71500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3A3"/>
                </a:solidFill>
                <a:latin typeface="Calibri"/>
              </a:defRPr>
            </a:pPr>
            <a:r>
              <a:t>Enables financial institutions to deploy autonomous workflows with operator controls, reducing human gating while increasing velocity responsibly.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3A3"/>
                </a:solidFill>
                <a:latin typeface="Calibri"/>
              </a:defRPr>
            </a:pPr>
            <a:r>
              <a:t>7 / 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33D"/>
                </a:solidFill>
                <a:latin typeface="Calibri"/>
              </a:defRPr>
            </a:pPr>
            <a:r>
              <a:t>ARCHITECTURAL GUARANTEES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8EB"/>
                </a:solidFill>
                <a:latin typeface="Calibri"/>
              </a:defRPr>
            </a:pPr>
            <a:r>
              <a:t>Immutable SHA-256 Audit Log &amp; Instant Chain Verification</a:t>
            </a:r>
          </a:p>
        </p:txBody>
      </p:sp>
      <p:pic>
        <p:nvPicPr>
          <p:cNvPr id="4" name="Picture 3" descr="audit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3A3"/>
                </a:solidFill>
                <a:latin typeface="Calibri"/>
              </a:defRPr>
            </a:pPr>
            <a:r>
              <a:t>8 / 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33D"/>
                </a:solidFill>
                <a:latin typeface="Calibri"/>
              </a:defRPr>
            </a:pPr>
            <a:r>
              <a:t>SCALABILITY &amp;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8EB"/>
                </a:solidFill>
                <a:latin typeface="Calibri"/>
              </a:defRPr>
            </a:pPr>
            <a:r>
              <a:t>From prototype to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57400"/>
            <a:ext cx="73152" cy="5486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E8EB"/>
                </a:solidFill>
                <a:latin typeface="Calibri"/>
              </a:defRPr>
            </a:pPr>
            <a:r>
              <a:t>Stateless Policy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3A3"/>
                </a:solidFill>
                <a:latin typeface="Calibri"/>
              </a:defRPr>
            </a:pPr>
            <a:r>
              <a:t>Sub-millisecond in-memory evaluation. Horizontally scalable across multiple app instances.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337560"/>
            <a:ext cx="73152" cy="5486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E8EB"/>
                </a:solidFill>
                <a:latin typeface="Calibri"/>
              </a:defRPr>
            </a:pPr>
            <a:r>
              <a:t>Database Upgrade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033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3A3"/>
                </a:solidFill>
                <a:latin typeface="Calibri"/>
              </a:defRPr>
            </a:pPr>
            <a:r>
              <a:t>Seamless migration from SQLite to PostgreSQL with append-only WORM storage for production.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617720"/>
            <a:ext cx="73152" cy="5486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E8EB"/>
                </a:solidFill>
                <a:latin typeface="Calibri"/>
              </a:defRPr>
            </a:pPr>
            <a:r>
              <a:t>WebSocket Pub/Sub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9834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3A3"/>
                </a:solidFill>
                <a:latin typeface="Calibri"/>
              </a:defRPr>
            </a:pPr>
            <a:r>
              <a:t>Connection manager can be backed by Redis Pub/Sub for high-concurrency enterprise monitoring.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011680"/>
            <a:ext cx="4846320" cy="4114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2A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A33D"/>
                </a:solidFill>
                <a:latin typeface="Calibri"/>
              </a:defRPr>
            </a:pPr>
            <a:r>
              <a:t>Assumptions &amp; Constraints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7432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3A3"/>
                </a:solidFill>
                <a:latin typeface="Calibri"/>
              </a:defRPr>
            </a:pPr>
            <a:r>
              <a:t>• Demo uses an internal multi-agent simulator via /simulate/action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8A93A3"/>
                </a:solidFill>
                <a:latin typeface="Calibri"/>
              </a:defRPr>
            </a:pPr>
            <a:r>
              <a:t>• Production requires agents to invoke the Aegis authorization API directly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8A93A3"/>
                </a:solidFill>
                <a:latin typeface="Calibri"/>
              </a:defRPr>
            </a:pPr>
            <a:r>
              <a:t>• Audit log entries are strictly append-only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8A93A3"/>
                </a:solidFill>
                <a:latin typeface="Calibri"/>
              </a:defRPr>
            </a:pPr>
            <a:r>
              <a:t>• Editing historical records invalidates all subsequent hashes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8A93A3"/>
                </a:solidFill>
                <a:latin typeface="Calibri"/>
              </a:defRPr>
            </a:pPr>
            <a:r>
              <a:t>• Emergency stop is authoritative and synchronously enforced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3A3"/>
                </a:solidFill>
                <a:latin typeface="Calibri"/>
              </a:defRPr>
            </a:pPr>
            <a:r>
              <a:t>9 / 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E8A33D"/>
                </a:solidFill>
                <a:latin typeface="Calibri"/>
              </a:defRPr>
            </a:pPr>
            <a:r>
              <a:t>AEGIS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E8EB"/>
                </a:solidFill>
                <a:latin typeface="Calibri"/>
              </a:defRPr>
            </a:pPr>
            <a:r>
              <a:t>Governance Control for Financial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A93A3"/>
                </a:solidFill>
                <a:latin typeface="Calibri"/>
              </a:defRPr>
            </a:pPr>
            <a:r>
              <a:t>Thank you for your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3A3"/>
                </a:solidFill>
                <a:latin typeface="Calibri"/>
              </a:defRPr>
            </a:pPr>
            <a:r>
              <a:t>10 / 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